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731520"/>
            <a:ext cx="4572000" cy="3657600"/>
          </a:xfrm>
          <a:prstGeom prst="ellipse">
            <a:avLst/>
          </a:prstGeom>
          <a:solidFill>
            <a:srgbClr val="120E2A"/>
          </a:solidFill>
          <a:ln w="12700">
            <a:solidFill>
              <a:srgbClr val="120E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COMPLIANCE AI AGENT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·  Memory  ·  RAG  ·  Guardrails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971800"/>
            <a:ext cx="1280160" cy="320040"/>
          </a:xfrm>
          <a:prstGeom prst="rect">
            <a:avLst/>
          </a:prstGeom>
          <a:solidFill>
            <a:srgbClr val="17123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900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2971800"/>
            <a:ext cx="1280160" cy="320040"/>
          </a:xfrm>
          <a:prstGeom prst="rect">
            <a:avLst/>
          </a:prstGeom>
          <a:solidFill>
            <a:srgbClr val="17123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9900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2971800"/>
            <a:ext cx="1280160" cy="320040"/>
          </a:xfrm>
          <a:prstGeom prst="rect">
            <a:avLst/>
          </a:prstGeom>
          <a:solidFill>
            <a:srgbClr val="17123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29900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2971800"/>
            <a:ext cx="1280160" cy="320040"/>
          </a:xfrm>
          <a:prstGeom prst="rect">
            <a:avLst/>
          </a:prstGeom>
          <a:solidFill>
            <a:srgbClr val="17123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29900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2971800"/>
            <a:ext cx="1280160" cy="320040"/>
          </a:xfrm>
          <a:prstGeom prst="rect">
            <a:avLst/>
          </a:prstGeom>
          <a:solidFill>
            <a:srgbClr val="17123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9900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3657600"/>
            <a:ext cx="2743200" cy="43891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367588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Presentation  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Presented by Ankur Gaurav  ·  IIT Mandi AI Program  ·  Mini Project 2024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Crisis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modern enterprises urgently need AI-native compliance tools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310896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0604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Documentation is Manual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310896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71600"/>
            <a:ext cx="26060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6459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70%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383280" y="2743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Face Regulatory Complexity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606040" cy="310896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260604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6459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172200" y="2743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Reviews Are Delayed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7960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Gartner Compliance Technology Survey 2024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systemic failures driving the need for AI-native compliance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13716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56032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527048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837944"/>
            <a:ext cx="23408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breaches are costly — fines, audits, reputational damage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560320" cy="13716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417320"/>
            <a:ext cx="256032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527048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Complexity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5848" y="1837944"/>
            <a:ext cx="23408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frameworks: GDPR, HIPAA, SOX, CCPA, MAS, Basel III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560320" cy="13716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417320"/>
            <a:ext cx="256032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15" name="Text 13"/>
          <p:cNvSpPr/>
          <p:nvPr/>
        </p:nvSpPr>
        <p:spPr>
          <a:xfrm>
            <a:off x="6144768" y="1527048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Documents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1837944"/>
            <a:ext cx="23408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spread across emails, PDFs, SharePoint, Confluence, drives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2560320" cy="13716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71800"/>
            <a:ext cx="256032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081528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Dependency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392424"/>
            <a:ext cx="23408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analysts are scarce, expensive, and prone to inconsistency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2971800"/>
            <a:ext cx="2560320" cy="13716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971800"/>
            <a:ext cx="2560320" cy="36576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23" name="Text 21"/>
          <p:cNvSpPr/>
          <p:nvPr/>
        </p:nvSpPr>
        <p:spPr>
          <a:xfrm>
            <a:off x="4681728" y="3081528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81728" y="3392424"/>
            <a:ext cx="23408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update constantly — manual tracking cannot keep pace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orchestrated AI ecosystem that transforms compliance workflows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43000" cy="25603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143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0020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74520" y="1463040"/>
            <a:ext cx="1143000" cy="25603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1463040"/>
            <a:ext cx="1143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74520" y="16459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20240" y="20574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20240" y="257860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orchestrator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1752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1463040"/>
            <a:ext cx="1143000" cy="25603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463040"/>
            <a:ext cx="114300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6459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37560" y="20574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Guardrails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257860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safety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3484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463040"/>
            <a:ext cx="1143000" cy="25603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1463040"/>
            <a:ext cx="114300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16459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54880" y="20574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257860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semantic search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5216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1463040"/>
            <a:ext cx="1143000" cy="25603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1463040"/>
            <a:ext cx="1143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16459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72200" y="20574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257860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generation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26948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543800" y="1463040"/>
            <a:ext cx="1143000" cy="25603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1463040"/>
            <a:ext cx="114300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37" name="Text 35"/>
          <p:cNvSpPr/>
          <p:nvPr/>
        </p:nvSpPr>
        <p:spPr>
          <a:xfrm>
            <a:off x="7543800" y="16459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89520" y="20574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89520" y="257860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safe, accurate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Six-layer intelligent pipeline — modular and enterprise-scalable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955280" cy="475488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795528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447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· TypeScript · Streamlit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527048"/>
            <a:ext cx="201168" cy="20116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920240"/>
            <a:ext cx="7955280" cy="475488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920240"/>
            <a:ext cx="7955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9933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Stateful orchestration · Cyclic reasoning loops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75688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468880"/>
            <a:ext cx="7955280" cy="475488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468880"/>
            <a:ext cx="795528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5420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2560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ConversationBuffer · Entity Store · LangChain Memory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624328"/>
            <a:ext cx="201168" cy="201168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017520"/>
            <a:ext cx="7955280" cy="475488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017520"/>
            <a:ext cx="795528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0906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validation · Policy enforcement · Semantic routing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172968"/>
            <a:ext cx="201168" cy="201168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566160"/>
            <a:ext cx="7955280" cy="475488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566160"/>
            <a:ext cx="7955280" cy="36576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6393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DB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23360" y="3657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 similarity · HNSW Index · Semantic search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721608"/>
            <a:ext cx="201168" cy="201168"/>
          </a:xfrm>
          <a:prstGeom prst="ellipse">
            <a:avLst/>
          </a:prstGeom>
          <a:solidFill>
            <a:srgbClr val="FF3366"/>
          </a:solidFill>
          <a:ln w="12700">
            <a:solidFill>
              <a:srgbClr val="FF33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114800"/>
            <a:ext cx="7955280" cy="475488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4114800"/>
            <a:ext cx="795528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4187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— Llama 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23360" y="4206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Ultra-fast inference · 70B parameters · RAG context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270248"/>
            <a:ext cx="201168" cy="20116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tools powering every layer of the agent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6002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60604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" y="1435608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013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React 18 + TypeScript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1122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Tailwind CSS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Framer Motion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06040" cy="16002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060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435608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8013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LangGraph (stateful)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21122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Python 3.11+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2423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LangChain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325880"/>
            <a:ext cx="2606040" cy="16002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325880"/>
            <a:ext cx="260604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19" name="Text 17"/>
          <p:cNvSpPr/>
          <p:nvPr/>
        </p:nvSpPr>
        <p:spPr>
          <a:xfrm>
            <a:off x="6163056" y="1435608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18013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Groq API + Llama 3 70B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80760" y="21122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Sentence Transformers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80760" y="2423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all-MiniLM-L6-v2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2606040" cy="16002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63240"/>
            <a:ext cx="260604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" y="3172968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35387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FAISS (Facebook AI)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38496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Cosine Similarity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160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HNSW Index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3063240"/>
            <a:ext cx="2606040" cy="16002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3063240"/>
            <a:ext cx="2606040" cy="36576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31" name="Text 29"/>
          <p:cNvSpPr/>
          <p:nvPr/>
        </p:nvSpPr>
        <p:spPr>
          <a:xfrm>
            <a:off x="3374136" y="3172968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35387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ConversationBuffer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91840" y="38496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Entity Memory Store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91840" y="4160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LangChain Memory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35040" y="3063240"/>
            <a:ext cx="2606040" cy="16002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063240"/>
            <a:ext cx="260604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7" name="Text 35"/>
          <p:cNvSpPr/>
          <p:nvPr/>
        </p:nvSpPr>
        <p:spPr>
          <a:xfrm>
            <a:off x="6163056" y="3172968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80760" y="35387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Streamlit Web UI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80760" y="38496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Docker Container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80760" y="4160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Cloud-ready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processing pipeline with real-time state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713232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02336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572768"/>
            <a:ext cx="320040" cy="3200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727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444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719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compliance query received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21992"/>
            <a:ext cx="4023360" cy="713232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21992"/>
            <a:ext cx="4023360" cy="36576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423160"/>
            <a:ext cx="320040" cy="320040"/>
          </a:xfrm>
          <a:prstGeom prst="ellipse">
            <a:avLst/>
          </a:prstGeom>
          <a:solidFill>
            <a:srgbClr val="FF3366"/>
          </a:solidFill>
          <a:ln w="12700">
            <a:solidFill>
              <a:srgbClr val="FF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2951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5694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policy enforcement check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4023360" cy="713232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72384"/>
            <a:ext cx="402336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273552"/>
            <a:ext cx="320040" cy="32004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73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1455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Lookup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4198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prior context and entity knowledge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4023360" cy="713232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922776"/>
            <a:ext cx="402336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123944"/>
            <a:ext cx="320040" cy="3200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23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39959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4270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semantic search across document corpus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1371600"/>
            <a:ext cx="4023360" cy="713232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371600"/>
            <a:ext cx="402336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937760" y="1572768"/>
            <a:ext cx="320040" cy="3200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5727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1444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1719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context-enriched prompt for LLM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2221992"/>
            <a:ext cx="4023360" cy="713232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221992"/>
            <a:ext cx="402336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7" name="Shape 35"/>
          <p:cNvSpPr/>
          <p:nvPr/>
        </p:nvSpPr>
        <p:spPr>
          <a:xfrm>
            <a:off x="4937760" y="2423160"/>
            <a:ext cx="320040" cy="320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240" y="22951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49240" y="25694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generates answer at 750+ tokens/sec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3072384"/>
            <a:ext cx="4023360" cy="713232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3072384"/>
            <a:ext cx="402336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43" name="Shape 41"/>
          <p:cNvSpPr/>
          <p:nvPr/>
        </p:nvSpPr>
        <p:spPr>
          <a:xfrm>
            <a:off x="4937760" y="3273552"/>
            <a:ext cx="320040" cy="32004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273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49240" y="31455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49240" y="34198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with source refs + confidence score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Deep Dive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From raw documents to cited answers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219200" cy="219456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2192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27632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112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112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regulatory docs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76400" y="224028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</a:rPr>
              <a:t>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59280" y="1463040"/>
            <a:ext cx="1219200" cy="219456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59280" y="1463040"/>
            <a:ext cx="12192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59280" y="1627632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05000" y="2057400"/>
            <a:ext cx="112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05000" y="2487168"/>
            <a:ext cx="112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512-token segments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78480" y="224028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1360" y="1463040"/>
            <a:ext cx="1219200" cy="219456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1360" y="1463040"/>
            <a:ext cx="121920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19" name="Text 17"/>
          <p:cNvSpPr/>
          <p:nvPr/>
        </p:nvSpPr>
        <p:spPr>
          <a:xfrm>
            <a:off x="3261360" y="1627632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07080" y="2057400"/>
            <a:ext cx="112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07080" y="2487168"/>
            <a:ext cx="112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vectors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80560" y="224028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</a:rPr>
              <a:t>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463040"/>
            <a:ext cx="1219200" cy="219456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463040"/>
            <a:ext cx="121920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627632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09160" y="2057400"/>
            <a:ext cx="112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2487168"/>
            <a:ext cx="112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store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82640" y="224028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65520" y="1463040"/>
            <a:ext cx="1219200" cy="219456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65520" y="1463040"/>
            <a:ext cx="1219200" cy="36576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31" name="Text 29"/>
          <p:cNvSpPr/>
          <p:nvPr/>
        </p:nvSpPr>
        <p:spPr>
          <a:xfrm>
            <a:off x="6065520" y="1627632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11240" y="2057400"/>
            <a:ext cx="112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11240" y="2487168"/>
            <a:ext cx="112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retrieval on query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284720" y="224028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</a:rPr>
              <a:t>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67600" y="1463040"/>
            <a:ext cx="1219200" cy="219456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67600" y="1463040"/>
            <a:ext cx="121920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7" name="Text 35"/>
          <p:cNvSpPr/>
          <p:nvPr/>
        </p:nvSpPr>
        <p:spPr>
          <a:xfrm>
            <a:off x="7467600" y="1627632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513320" y="2057400"/>
            <a:ext cx="112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13320" y="2487168"/>
            <a:ext cx="112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final answer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3840480"/>
            <a:ext cx="8229600" cy="713232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840480"/>
            <a:ext cx="82296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3913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 = FAISS.from_documents(chunks, embedding_model)   docs = retriever.similarity_search(query, k=5)   answer = llm.generate(prompt=context + query)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Demonstration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responses using entity memory retrieval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1627632"/>
            <a:ext cx="3657600" cy="457200"/>
          </a:xfrm>
          <a:prstGeom prst="rect">
            <a:avLst/>
          </a:prstGeom>
          <a:solidFill>
            <a:srgbClr val="2A1F5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645920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company, TechVault Inc., is in India and processes EU citizen data.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0" y="2240280"/>
            <a:ext cx="4572000" cy="347472"/>
          </a:xfrm>
          <a:prstGeom prst="rect">
            <a:avLst/>
          </a:prstGeom>
          <a:solidFill>
            <a:srgbClr val="0A2A1A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258568"/>
            <a:ext cx="4553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⚙  Memory stored: Entity → Company: TechVault Inc. | Location: India | Data: EU citizens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583680" y="2743200"/>
            <a:ext cx="2103120" cy="347472"/>
          </a:xfrm>
          <a:prstGeom prst="rect">
            <a:avLst/>
          </a:prstGeom>
          <a:solidFill>
            <a:srgbClr val="2A1F5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761488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GDPR apply to us?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7772400" cy="1143000"/>
          </a:xfrm>
          <a:prstGeom prst="rect">
            <a:avLst/>
          </a:prstGeom>
          <a:solidFill>
            <a:srgbClr val="131A3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GDPR applies to TechVault Inc. even though you are based in India. Under Article 3 (Territorial Scope), GDPR applies to any organization processing personal data of EU residents, regardless of where the organization is located.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GDPR Art. 3 — Territorial Scope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Demonstration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routing and policy enforcement before LLM inference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34747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97764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APPROVED QUERIES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749040" cy="621792"/>
          </a:xfrm>
          <a:prstGeom prst="rect">
            <a:avLst/>
          </a:prstGeom>
          <a:solidFill>
            <a:srgbClr val="0A2A1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are the KYC requirements in Singapore under MAS?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3749040" cy="621792"/>
          </a:xfrm>
          <a:prstGeom prst="rect">
            <a:avLst/>
          </a:prstGeom>
          <a:solidFill>
            <a:srgbClr val="0A2A1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7004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Summarize recent changes to Basel III capital requirements.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3749040" cy="621792"/>
          </a:xfrm>
          <a:prstGeom prst="rect">
            <a:avLst/>
          </a:prstGeom>
          <a:solidFill>
            <a:srgbClr val="0A2A1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1985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our data retention obligations under GDPR.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325880"/>
            <a:ext cx="3977640" cy="34747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325880"/>
            <a:ext cx="3977640" cy="36576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BLOCKED REQUESTS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874520"/>
            <a:ext cx="3749040" cy="621792"/>
          </a:xfrm>
          <a:prstGeom prst="rect">
            <a:avLst/>
          </a:prstGeom>
          <a:solidFill>
            <a:srgbClr val="2A0A10"/>
          </a:solidFill>
          <a:ln w="12700">
            <a:solidFill>
              <a:srgbClr val="4A1A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20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How can we bypass the new tax audit regulations?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2402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ERR_POLICY_VIOLATION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54880" y="2624328"/>
            <a:ext cx="3749040" cy="621792"/>
          </a:xfrm>
          <a:prstGeom prst="rect">
            <a:avLst/>
          </a:prstGeom>
          <a:solidFill>
            <a:srgbClr val="2A0A10"/>
          </a:solidFill>
          <a:ln w="12700">
            <a:solidFill>
              <a:srgbClr val="4A1A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6700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Write a script to delete audit trail logs.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9900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ERR_DESTRUCTIVE_INTENT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54880" y="3374136"/>
            <a:ext cx="3749040" cy="621792"/>
          </a:xfrm>
          <a:prstGeom prst="rect">
            <a:avLst/>
          </a:prstGeom>
          <a:solidFill>
            <a:srgbClr val="2A0A10"/>
          </a:solidFill>
          <a:ln w="12700">
            <a:solidFill>
              <a:srgbClr val="4A1A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41985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Retrieve personal PII of employee ID 4402.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7398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ERR_PII_REQUEST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agent telemetry and system health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920240" cy="11887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192024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447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42032" y="1325880"/>
            <a:ext cx="1920240" cy="11887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42032" y="1325880"/>
            <a:ext cx="19202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2542032" y="14447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42032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Entries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1325880"/>
            <a:ext cx="1920240" cy="11887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325880"/>
            <a:ext cx="192024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15" name="Text 13"/>
          <p:cNvSpPr/>
          <p:nvPr/>
        </p:nvSpPr>
        <p:spPr>
          <a:xfrm>
            <a:off x="4626864" y="14447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3,240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26864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Chunks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11696" y="1325880"/>
            <a:ext cx="1920240" cy="11887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11696" y="1325880"/>
            <a:ext cx="192024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6711696" y="14447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711696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Sources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5943600" cy="18288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697480"/>
            <a:ext cx="59436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788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Query Stream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154680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14:42:01  What are data residency requirements under PDPA?  [91%]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" y="3538728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14:41:38  Summarize Basel III Tier 1 capital requirements.  [88%]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" y="3922776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14:40:55  Does CCPA apply to B2B SaaS companies?  [94%]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92240" y="2697480"/>
            <a:ext cx="2194560" cy="18288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2697480"/>
            <a:ext cx="219456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309067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1.2s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583680" y="3749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&lt; 2.4s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83680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0.3s  |  Generation: 0.9s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Simulation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compliance query with RAG retrieval and source citation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34747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1554480"/>
            <a:ext cx="3657600" cy="438912"/>
          </a:xfrm>
          <a:prstGeom prst="rect">
            <a:avLst/>
          </a:prstGeom>
          <a:solidFill>
            <a:srgbClr val="2A1F5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47488" y="1572768"/>
            <a:ext cx="3621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GDPR and how does it define personal data?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1508760"/>
          </a:xfrm>
          <a:prstGeom prst="rect">
            <a:avLst/>
          </a:prstGeom>
          <a:solidFill>
            <a:srgbClr val="131A3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12848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(General Data Protection Regulation) is a comprehensive EU data privacy law effective May 2018. Under Article 4, personal data is defined as any information relating to an identified or identifiable natural person — including names, IDs, location data, and online identifiers. Non-compliance carries fines of up to €20M or 4% of global annual revenue.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3474720" cy="82296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794760"/>
            <a:ext cx="347472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5876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GDPR Regulation 2016/679  ·  Article 4 (Definitions)  ·  Recital 26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97680" y="3794760"/>
            <a:ext cx="2286000" cy="82296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3794760"/>
            <a:ext cx="228600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385876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0" y="4114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ROI for enterprise compliance teams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920240" cy="201168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192024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8132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0352" y="233172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Compliance Reviews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281635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→ Days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325880"/>
            <a:ext cx="1920240" cy="201168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325880"/>
            <a:ext cx="19202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48132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633472" y="233172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Document Search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33472" y="281635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 → Minutes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1920240" cy="201168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325880"/>
            <a:ext cx="192024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48132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736592" y="233172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Knowledge Access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36592" y="281635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Cross-doc retrieval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325880"/>
            <a:ext cx="1920240" cy="201168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325880"/>
            <a:ext cx="192024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48132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839712" y="233172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39712" y="281635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compliance analyst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1920240" cy="9144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520440"/>
            <a:ext cx="1920240" cy="36576"/>
          </a:xfrm>
          <a:prstGeom prst="rect">
            <a:avLst/>
          </a:prstGeom>
          <a:solidFill>
            <a:srgbClr val="3A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" y="3931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hours saved / week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0" y="3520440"/>
            <a:ext cx="1920240" cy="9144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0" y="3520440"/>
            <a:ext cx="1920240" cy="36576"/>
          </a:xfrm>
          <a:prstGeom prst="rect">
            <a:avLst/>
          </a:prstGeom>
          <a:solidFill>
            <a:srgbClr val="3A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606040" y="3931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resolved without escalation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3520440"/>
            <a:ext cx="1920240" cy="9144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520440"/>
            <a:ext cx="1920240" cy="36576"/>
          </a:xfrm>
          <a:prstGeom prst="rect">
            <a:avLst/>
          </a:prstGeom>
          <a:solidFill>
            <a:srgbClr val="3A4560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709160" y="3931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frameworks covered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766560" y="3520440"/>
            <a:ext cx="1920240" cy="91440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3520440"/>
            <a:ext cx="1920240" cy="36576"/>
          </a:xfrm>
          <a:prstGeom prst="rect">
            <a:avLst/>
          </a:prstGeom>
          <a:solidFill>
            <a:srgbClr val="3A4560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1.5s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12280" y="3931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response latency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Applications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architecture — five regulated verticals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572768" cy="34747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1572768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46304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LegalTech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920240"/>
            <a:ext cx="1426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contract review &amp; redlining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2514600"/>
            <a:ext cx="1426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Case law &amp; precedent retrieval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39696" y="1325880"/>
            <a:ext cx="1572768" cy="34747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9696" y="1325880"/>
            <a:ext cx="1572768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12" name="Text 10"/>
          <p:cNvSpPr/>
          <p:nvPr/>
        </p:nvSpPr>
        <p:spPr>
          <a:xfrm>
            <a:off x="2212848" y="146304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12848" y="1920240"/>
            <a:ext cx="1426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HIPAA compliance automation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12848" y="2514600"/>
            <a:ext cx="1426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PHI data handling validation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22192" y="1325880"/>
            <a:ext cx="1572768" cy="34747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22192" y="1325880"/>
            <a:ext cx="1572768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3895344" y="146304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95344" y="1920240"/>
            <a:ext cx="1426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Claim policy validation automation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95344" y="2514600"/>
            <a:ext cx="1426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Cross-jurisdictional coverage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04688" y="1325880"/>
            <a:ext cx="1572768" cy="34747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04688" y="1325880"/>
            <a:ext cx="1572768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146304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1920240"/>
            <a:ext cx="1426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KYC / AML compliance checks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77840" y="2514600"/>
            <a:ext cx="1426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Capital adequacy reporting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187184" y="1325880"/>
            <a:ext cx="1572768" cy="3474720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87184" y="1325880"/>
            <a:ext cx="1572768" cy="36576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27" name="Text 25"/>
          <p:cNvSpPr/>
          <p:nvPr/>
        </p:nvSpPr>
        <p:spPr>
          <a:xfrm>
            <a:off x="7260336" y="146304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0336" y="1920240"/>
            <a:ext cx="1426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Policy drafting &amp; review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60336" y="2514600"/>
            <a:ext cx="1426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Regulatory impact analysis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 agent to full enterprise compliance AI ecosystem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7315200" cy="36576"/>
          </a:xfrm>
          <a:prstGeom prst="rect">
            <a:avLst/>
          </a:prstGeom>
          <a:solidFill>
            <a:srgbClr val="3A456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755648"/>
            <a:ext cx="502920" cy="502920"/>
          </a:xfrm>
          <a:prstGeom prst="ellipse">
            <a:avLst/>
          </a:prstGeom>
          <a:solidFill>
            <a:srgbClr val="6C63FF"/>
          </a:solidFill>
          <a:ln w="381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764792"/>
            <a:ext cx="502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505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270662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Agent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09067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RAG + Guardrails + Memory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15568" y="3566160"/>
            <a:ext cx="1005840" cy="256032"/>
          </a:xfrm>
          <a:prstGeom prst="rect">
            <a:avLst/>
          </a:prstGeom>
          <a:solidFill>
            <a:srgbClr val="1A10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58444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NOW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889504" y="1755648"/>
            <a:ext cx="502920" cy="502920"/>
          </a:xfrm>
          <a:prstGeom prst="ellipse">
            <a:avLst/>
          </a:prstGeom>
          <a:solidFill>
            <a:srgbClr val="3A456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9504" y="1764792"/>
            <a:ext cx="502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23744" y="24505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23744" y="270662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23744" y="309067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 collaboration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98848" y="1755648"/>
            <a:ext cx="502920" cy="502920"/>
          </a:xfrm>
          <a:prstGeom prst="ellipse">
            <a:avLst/>
          </a:prstGeom>
          <a:solidFill>
            <a:srgbClr val="3A4560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1764792"/>
            <a:ext cx="502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33088" y="24505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33088" y="270662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Analyzer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33088" y="309067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redlining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08192" y="1755648"/>
            <a:ext cx="502920" cy="502920"/>
          </a:xfrm>
          <a:prstGeom prst="ellipse">
            <a:avLst/>
          </a:prstGeom>
          <a:solidFill>
            <a:srgbClr val="3A456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1764792"/>
            <a:ext cx="502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42432" y="24505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42432" y="270662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42432" y="309067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detection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17536" y="1755648"/>
            <a:ext cx="502920" cy="502920"/>
          </a:xfrm>
          <a:prstGeom prst="ellipse">
            <a:avLst/>
          </a:prstGeom>
          <a:solidFill>
            <a:srgbClr val="3A4560"/>
          </a:solidFill>
          <a:ln w="12700">
            <a:solidFill>
              <a:srgbClr val="FF33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17536" y="1764792"/>
            <a:ext cx="502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51776" y="24505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51776" y="270662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Advisor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51776" y="309067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legal intelligence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Future Vision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swarm intelligence for enterprise-scale compliance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2011680" cy="1371600"/>
          </a:xfrm>
          <a:prstGeom prst="ellipse">
            <a:avLst/>
          </a:prstGeom>
          <a:solidFill>
            <a:srgbClr val="1A1040"/>
          </a:solidFill>
          <a:ln w="254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1031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737360" cy="1188720"/>
          </a:xfrm>
          <a:prstGeom prst="ellipse">
            <a:avLst/>
          </a:prstGeom>
          <a:solidFill>
            <a:srgbClr val="3A4560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1371600"/>
            <a:ext cx="1737360" cy="1188720"/>
          </a:xfrm>
          <a:prstGeom prst="ellipse">
            <a:avLst/>
          </a:prstGeom>
          <a:solidFill>
            <a:srgbClr val="3A456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5087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737360" cy="1188720"/>
          </a:xfrm>
          <a:prstGeom prst="ellipse">
            <a:avLst/>
          </a:prstGeom>
          <a:solidFill>
            <a:srgbClr val="3A4560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375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3200400"/>
            <a:ext cx="1737360" cy="1188720"/>
          </a:xfrm>
          <a:prstGeom prst="ellipse">
            <a:avLst/>
          </a:prstGeom>
          <a:solidFill>
            <a:srgbClr val="3A4560"/>
          </a:solidFill>
          <a:ln w="19050">
            <a:solidFill>
              <a:srgbClr val="00FF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3375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4023360"/>
            <a:ext cx="2926080" cy="502920"/>
          </a:xfrm>
          <a:prstGeom prst="rect">
            <a:avLst/>
          </a:prstGeom>
          <a:solidFill>
            <a:srgbClr val="0A2A1A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4078224"/>
            <a:ext cx="2926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Compliance Response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" y="4572000"/>
            <a:ext cx="8778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Compliance: Policy Q&amp;A and regulatory matching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82880" y="4572000"/>
            <a:ext cx="8778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Research: Legal precedent and case law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82880" y="4572000"/>
            <a:ext cx="8778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Risk: Exposure scoring and risk assessment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82880" y="4572000"/>
            <a:ext cx="8778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Contract: Clause analysis and automated redlining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Bigger Picture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316736"/>
            <a:ext cx="292608" cy="29260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252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99616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agentic intelligence at scale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621792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20240"/>
            <a:ext cx="8229600" cy="36576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048256"/>
            <a:ext cx="292608" cy="292608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956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231136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guardrails, transparency &amp; explainability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621792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51760"/>
            <a:ext cx="82296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2779776"/>
            <a:ext cx="292608" cy="2926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6883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962656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Source-cited answers with confidence scoring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621792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83280"/>
            <a:ext cx="822960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3511296"/>
            <a:ext cx="292608" cy="292608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4198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694176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compliance complexity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621792"/>
          </a:xfrm>
          <a:prstGeom prst="rect">
            <a:avLst/>
          </a:prstGeom>
          <a:solidFill>
            <a:srgbClr val="3A4560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14800"/>
            <a:ext cx="8229600" cy="36576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928" y="4242816"/>
            <a:ext cx="292608" cy="292608"/>
          </a:xfrm>
          <a:prstGeom prst="ellipse">
            <a:avLst/>
          </a:prstGeom>
          <a:solidFill>
            <a:srgbClr val="FF3366"/>
          </a:solidFill>
          <a:ln w="12700">
            <a:solidFill>
              <a:srgbClr val="FF33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151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Compliance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425696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workflows replacing manual processes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E08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3200400" y="2423160"/>
            <a:ext cx="2743200" cy="2743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Compliance AI Agent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090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·  Memory  ·  RAG  ·  Guardrails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IIT Mandi AI Program  ·  Mini Project 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Ankur Gaurav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4462272"/>
            <a:ext cx="1097280" cy="274320"/>
          </a:xfrm>
          <a:prstGeom prst="rect">
            <a:avLst/>
          </a:prstGeom>
          <a:solidFill>
            <a:srgbClr val="3A4560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4805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03120" y="4462272"/>
            <a:ext cx="1097280" cy="274320"/>
          </a:xfrm>
          <a:prstGeom prst="rect">
            <a:avLst/>
          </a:prstGeom>
          <a:solidFill>
            <a:srgbClr val="3A4560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44805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37560" y="4462272"/>
            <a:ext cx="1097280" cy="274320"/>
          </a:xfrm>
          <a:prstGeom prst="rect">
            <a:avLst/>
          </a:prstGeom>
          <a:solidFill>
            <a:srgbClr val="3A4560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44805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0" y="4462272"/>
            <a:ext cx="1097280" cy="274320"/>
          </a:xfrm>
          <a:prstGeom prst="rect">
            <a:avLst/>
          </a:prstGeom>
          <a:solidFill>
            <a:srgbClr val="3A4560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4805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 AI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806440" y="4462272"/>
            <a:ext cx="1097280" cy="274320"/>
          </a:xfrm>
          <a:prstGeom prst="rect">
            <a:avLst/>
          </a:prstGeom>
          <a:solidFill>
            <a:srgbClr val="3A4560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44805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040880" y="4462272"/>
            <a:ext cx="1097280" cy="274320"/>
          </a:xfrm>
          <a:prstGeom prst="rect">
            <a:avLst/>
          </a:prstGeom>
          <a:solidFill>
            <a:srgbClr val="3A4560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44805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48234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IIT Mandi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Compliance AI Agent</dc:title>
  <dc:subject>IIT Mandi AI Program Mini Project</dc:subject>
  <dc:creator>Ankur Gaurav</dc:creator>
  <cp:lastModifiedBy>Ankur Gaurav</cp:lastModifiedBy>
  <cp:revision>1</cp:revision>
  <dcterms:created xsi:type="dcterms:W3CDTF">2026-06-17T14:03:42Z</dcterms:created>
  <dcterms:modified xsi:type="dcterms:W3CDTF">2026-06-17T14:03:42Z</dcterms:modified>
</cp:coreProperties>
</file>